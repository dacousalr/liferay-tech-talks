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notesSlides/_rels/notesSlide19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24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1.xml.rels" ContentType="application/vnd.openxmlformats-package.relationships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media/image14.jpeg" ContentType="image/jpeg"/>
  <Override PartName="/ppt/media/image13.png" ContentType="image/png"/>
  <Override PartName="/ppt/media/image12.jpeg" ContentType="image/jpeg"/>
  <Override PartName="/ppt/media/image11.jpeg" ContentType="image/jpeg"/>
  <Override PartName="/ppt/media/image10.png" ContentType="image/png"/>
  <Override PartName="/ppt/media/image9.png" ContentType="image/png"/>
  <Override PartName="/ppt/media/image6.png" ContentType="image/png"/>
  <Override PartName="/ppt/media/image5.jpeg" ContentType="image/jpeg"/>
  <Override PartName="/ppt/media/image7.png" ContentType="image/png"/>
  <Override PartName="/ppt/media/image4.jpeg" ContentType="image/jpeg"/>
  <Override PartName="/ppt/media/image3.jpeg" ContentType="image/jpeg"/>
  <Override PartName="/ppt/media/image2.png" ContentType="image/png"/>
  <Override PartName="/ppt/media/image8.jpeg" ContentType="image/jpeg"/>
  <Override PartName="/ppt/media/image1.png" ContentType="image/png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charts/chart11.xml" ContentType="application/vnd.openxmlformats-officedocument.drawingml.char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
</Relationships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title>
      <c:layout/>
      <c:tx>
        <c:rich>
          <a:bodyPr/>
          <a:lstStyle/>
          <a:p>
            <a:pPr>
              <a:defRPr/>
            </a:pPr>
            <a:r>
              <a:rPr b="1" sz="1300">
                <a:solidFill>
                  <a:srgbClr val="000000"/>
                </a:solidFill>
                <a:latin typeface="Arial"/>
              </a:rPr>
              <a:t>Complexity vs Cost</a:t>
            </a:r>
          </a:p>
        </c:rich>
      </c:tx>
    </c:title>
    <c:plotArea>
      <c:layout/>
      <c:lineChart>
        <c:grouping val="standard"/>
        <c:ser>
          <c:idx val="0"/>
          <c:order val="0"/>
          <c:tx>
            <c:strRef>
              <c:f>label 1</c:f>
              <c:strCache>
                <c:ptCount val="1"/>
                <c:pt idx="0">
                  <c:v>Modular</c:v>
                </c:pt>
              </c:strCache>
            </c:strRef>
          </c:tx>
          <c:spPr>
            <a:solidFill>
              <a:srgbClr val="579d1c"/>
            </a:solidFill>
            <a:ln w="10800">
              <a:solidFill>
                <a:srgbClr val="579d1c"/>
              </a:solidFill>
              <a:round/>
            </a:ln>
          </c:spPr>
          <c:marker>
            <c:symbol val="none"/>
          </c:marker>
          <c:val>
            <c:numRef>
              <c:f>0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Monolithic</c:v>
                </c:pt>
              </c:strCache>
            </c:strRef>
          </c:tx>
          <c:spPr>
            <a:solidFill>
              <a:srgbClr val="ff420e"/>
            </a:solidFill>
            <a:ln w="10800">
              <a:solidFill>
                <a:srgbClr val="ff420e"/>
              </a:solidFill>
              <a:round/>
            </a:ln>
          </c:spPr>
          <c:marker>
            <c:symbol val="none"/>
          </c:marker>
          <c:val>
            <c:numRef>
              <c:f>1</c:f>
              <c:numCache>
                <c:formatCode>General</c:formatCode>
                <c:ptCount val="6"/>
                <c:pt idx="0">
                  <c:v>1</c:v>
                </c:pt>
                <c:pt idx="1">
                  <c:v>2.8</c:v>
                </c:pt>
                <c:pt idx="2">
                  <c:v>5.19</c:v>
                </c:pt>
                <c:pt idx="3">
                  <c:v>8</c:v>
                </c:pt>
                <c:pt idx="4">
                  <c:v>11.1</c:v>
                </c:pt>
                <c:pt idx="5">
                  <c:v>14.6</c:v>
                </c:pt>
              </c:numCache>
            </c:numRef>
          </c:val>
        </c:ser>
        <c:marker val="0"/>
        <c:axId val="65452714"/>
        <c:axId val="78484633"/>
      </c:lineChart>
      <c:catAx>
        <c:axId val="65452714"/>
        <c:scaling>
          <c:orientation val="minMax"/>
        </c:scaling>
        <c:delete val="1"/>
        <c:axPos val="b"/>
        <c:majorTickMark val="out"/>
        <c:minorTickMark val="none"/>
        <c:tickLblPos val="nextTo"/>
        <c:crossAx val="78484633"/>
        <c:crossesAt val="0"/>
        <c:lblAlgn val="ctr"/>
        <c:auto val="1"/>
        <c:lblOffset val="100"/>
        <c:spPr>
          <a:ln w="9360">
            <a:solidFill>
              <a:srgbClr val="878787"/>
            </a:solidFill>
            <a:round/>
          </a:ln>
        </c:spPr>
      </c:catAx>
      <c:valAx>
        <c:axId val="78484633"/>
        <c:scaling>
          <c:orientation val="minMax"/>
        </c:scaling>
        <c:delete val="1"/>
        <c:axPos val="l"/>
        <c:majorGridlines>
          <c:spPr>
            <a:ln w="9360">
              <a:solidFill>
                <a:srgbClr val="ffffff"/>
              </a:solidFill>
              <a:round/>
            </a:ln>
          </c:spPr>
        </c:majorGridlines>
        <c:majorTickMark val="out"/>
        <c:minorTickMark val="none"/>
        <c:tickLblPos val="none"/>
        <c:crossAx val="65452714"/>
        <c:crossesAt val="1"/>
        <c:spPr>
          <a:ln w="9360">
            <a:solidFill>
              <a:srgbClr val="878787"/>
            </a:solidFill>
            <a:round/>
          </a:ln>
        </c:spPr>
      </c:valAx>
      <c:spPr>
        <a:solidFill>
          <a:srgbClr val="ffffff"/>
        </a:solidFill>
      </c:spPr>
    </c:plotArea>
    <c:legend>
      <c:legendPos val="r"/>
      <c:spPr/>
    </c:legend>
    <c:plotVisOnly val="1"/>
  </c:chart>
  <c:spPr/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Click to edit the notes' format</a:t>
            </a:r>
            <a:endParaRPr/>
          </a:p>
        </p:txBody>
      </p:sp>
      <p:sp>
        <p:nvSpPr>
          <p:cNvPr id="13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&lt;header&gt;</a:t>
            </a:r>
            <a:endParaRPr/>
          </a:p>
        </p:txBody>
      </p:sp>
      <p:sp>
        <p:nvSpPr>
          <p:cNvPr id="140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bIns="0" lIns="0" rIns="0" tIns="0" wrap="none"/>
          <a:p>
            <a:pPr algn="r"/>
            <a:r>
              <a:rPr lang="en-GB"/>
              <a:t>&lt;date/time&gt;</a:t>
            </a:r>
            <a:endParaRPr/>
          </a:p>
        </p:txBody>
      </p:sp>
      <p:sp>
        <p:nvSpPr>
          <p:cNvPr id="141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anchor="b" bIns="0" lIns="0" rIns="0" tIns="0" wrap="none"/>
          <a:p>
            <a:r>
              <a:rPr lang="en-GB"/>
              <a:t>&lt;footer&gt;</a:t>
            </a:r>
            <a:endParaRPr/>
          </a:p>
        </p:txBody>
      </p:sp>
      <p:sp>
        <p:nvSpPr>
          <p:cNvPr id="142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anchor="b" bIns="0" lIns="0" rIns="0" tIns="0" wrap="none"/>
          <a:p>
            <a:pPr algn="r"/>
            <a:fld id="{FEAC3C9D-90A0-4DF2-BC81-1618960C3992}" type="slidenum">
              <a:rPr lang="en-GB"/>
              <a:t>&lt;number&gt;</a:t>
            </a:fld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9240"/>
          </a:xfrm>
          <a:prstGeom prst="rect">
            <a:avLst/>
          </a:prstGeom>
        </p:spPr>
        <p:txBody>
          <a:bodyPr bIns="0" lIns="0" rIns="0" tIns="0" wrap="none"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The goal of this slide is to present how complex large systems can be, highlighting some of the following points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Large systems are extremely complex to develop and maintain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Highly coupled systems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Cloud computing: Multiple deployments are co-located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Footprint and performance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Distributed development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Once we have presented the previous problems we should introduce the general concept of modularity. Something like: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Systems composed of relatively small self-contained units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Clear interfaces between them</a:t>
            </a: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 sz="1100"/>
              <a:t>Following the idea of the previous slide we can do a quick overview of how complexity and cost are related in modular and monolithic systems.</a:t>
            </a: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9240"/>
          </a:xfrm>
          <a:prstGeom prst="rect">
            <a:avLst/>
          </a:prstGeom>
        </p:spPr>
        <p:txBody>
          <a:bodyPr bIns="0" lIns="0" rIns="0" tIns="0" wrap="none"/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The goal of this slide is to bring up some of the benefits that modularity give us. The idea is to highlight two kind of benefits: the internals ones, for us, and the external ones, for our developers/users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For “inside” benefits: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Decoupled and highly focused components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Easier development process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Simplify current implementations/patterns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Easier to implement new features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Highly focused teams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Easier distributed development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For “outside” benefits: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More frequent delivery of new features or improvements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Less bugs due to higher degree of focus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Quicker and simpler delivery of patches for bugs and security issues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Robustness</a:t>
            </a: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Footprint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At this point we have showed up some of the problems we are currently facing and how modularity can help us to solve many of them.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SzPct val="25000"/>
              <a:buFont typeface="StarSymbol"/>
              <a:buChar char="l"/>
            </a:pPr>
            <a:r>
              <a:rPr lang="en-GB" sz="1100">
                <a:latin typeface="Courier 10 Pitch"/>
              </a:rPr>
              <a:t>Note that until this point we haven't mentioned OSGi at all (even Liferay neither ) ). General problems and a generic solutions</a:t>
            </a: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 sz="1100">
                <a:latin typeface="Courier 10 Pitch"/>
              </a:rPr>
              <a:t>The purpose of this slide is to do an extremely quick and general presentation about the main features of OSGi: what it is, main benefits</a:t>
            </a:r>
            <a:endParaRPr/>
          </a:p>
          <a:p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Reduce complexity developing bundles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Dynamism: Real world is dynamic; deal with it!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Deployment mechanism: determine how components are installed and managed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Dynamic updates:do not bring down the whole system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Versioning: multiple versions of the same component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Small and fast: about 300K jar file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Non intrusive: runs everywhere.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Widely used: Eclipse, Glassfish, JBoss, Virgo RT, . . 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One thing I want to highlight is that WE DON´T WANT to reinvent the wheel.</a:t>
            </a: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 sz="1100">
                <a:latin typeface="Courier 10 Pitch"/>
              </a:rPr>
              <a:t>The goal of this slide is just to do a quick presentation of the global OSGi's architecture. A brief summary for every single layer should be enough </a:t>
            </a:r>
            <a:endParaRPr/>
          </a:p>
          <a:p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Bundles:OSGI components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Services:Connecting in a dynamic way. POJOs.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Life-cycle:How to install, start, stop, update and uninstall bundles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Modules: About encapsulating and importing/exporting code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Security: All aspects related to security</a:t>
            </a:r>
            <a:endParaRPr/>
          </a:p>
          <a:p>
            <a:pPr>
              <a:lnSpc>
                <a:spcPct val="100000"/>
              </a:lnSpc>
            </a:pPr>
            <a:r>
              <a:rPr lang="en-GB" sz="1100">
                <a:latin typeface="Courier 10 Pitch"/>
              </a:rPr>
              <a:t>– </a:t>
            </a:r>
            <a:r>
              <a:rPr lang="en-GB" sz="1100">
                <a:latin typeface="Courier 10 Pitch"/>
              </a:rPr>
              <a:t>Execution environment: What methods and classes are available</a:t>
            </a: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480" cy="480888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Just a quick tour over the new Lifecycle we can get for free</a:t>
            </a:r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body"/>
          </p:nvPr>
        </p:nvSpPr>
        <p:spPr>
          <a:xfrm>
            <a:off x="648720" y="360000"/>
            <a:ext cx="6045480" cy="979020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The goal is to present how we have tried to apply all the previous concepts to the Liferay plaform doing a brief summary of the general architecture of the solution. Something like this</a:t>
            </a:r>
            <a:endParaRPr/>
          </a:p>
          <a:p>
            <a:endParaRPr/>
          </a:p>
          <a:p>
            <a:r>
              <a:rPr lang="en-GB"/>
              <a:t>Embedded OSGI framework Ideally should be “agnostic”: Felix and Equinox are supported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HTTP Service implementation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Backwards compatible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Always enabled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Done as plugins (except the embedded OSGi container) so it is completely non intrusive.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The idea of this slide is to present the overall of the architecture built-in inside Liferay but without going too much deep in the stack (I tend to think most of the people gets bored when you go too deeper)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lang="en-GB"/>
              <a:t>Make especial emphasis on how we can benefits of the deployment aspects of this approach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body"/>
          </p:nvPr>
        </p:nvSpPr>
        <p:spPr>
          <a:xfrm>
            <a:off x="648720" y="360000"/>
            <a:ext cx="6045480" cy="979020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This is something Ray and I should discuss: I think many of the stuff mentioned have already been discussed but we should agree anyway :)</a:t>
            </a:r>
            <a:endParaRPr/>
          </a:p>
          <a:p>
            <a:endParaRPr/>
          </a:p>
          <a:p>
            <a:r>
              <a:rPr lang="en-GB"/>
              <a:t>– </a:t>
            </a:r>
            <a:r>
              <a:rPr lang="en-GB"/>
              <a:t>Put in place the JSP support once we have already done it. This will allow you to write your UI using the JSP: but right now you can already use other alternatives like Vaadin (perfect fit within OSGi), Freemarker,…</a:t>
            </a:r>
            <a:endParaRPr/>
          </a:p>
          <a:p>
            <a:endParaRPr/>
          </a:p>
          <a:p>
            <a:r>
              <a:rPr lang="en-GB"/>
              <a:t>– </a:t>
            </a:r>
            <a:r>
              <a:rPr lang="en-GB"/>
              <a:t>Trying to apply some of the concepts previously shown in the Liferay Core: </a:t>
            </a:r>
            <a:endParaRPr/>
          </a:p>
          <a:p>
            <a:r>
              <a:rPr lang="en-GB"/>
              <a:t>    – </a:t>
            </a:r>
            <a:r>
              <a:rPr lang="en-GB"/>
              <a:t>Powerful registry mechanism;</a:t>
            </a:r>
            <a:endParaRPr/>
          </a:p>
          <a:p>
            <a:r>
              <a:rPr lang="en-GB"/>
              <a:t>    – </a:t>
            </a:r>
            <a:r>
              <a:rPr lang="en-GB"/>
              <a:t>Easier extensibility and reuse of components</a:t>
            </a:r>
            <a:endParaRPr/>
          </a:p>
          <a:p>
            <a:r>
              <a:rPr lang="en-GB"/>
              <a:t>    – </a:t>
            </a:r>
            <a:r>
              <a:rPr lang="en-GB"/>
              <a:t>Get all the benefits from having smaller components like: less bugs, easier to maintain/rewrite, focus, distributed teams, …</a:t>
            </a:r>
            <a:endParaRPr/>
          </a:p>
          <a:p>
            <a:endParaRPr/>
          </a:p>
          <a:p>
            <a:r>
              <a:rPr lang="en-GB"/>
              <a:t>Some of the features I would like to have:</a:t>
            </a:r>
            <a:endParaRPr/>
          </a:p>
          <a:p>
            <a:r>
              <a:rPr lang="en-GB"/>
              <a:t>  </a:t>
            </a:r>
            <a:endParaRPr/>
          </a:p>
          <a:p>
            <a:r>
              <a:rPr lang="en-GB"/>
              <a:t>– </a:t>
            </a:r>
            <a:r>
              <a:rPr lang="en-GB"/>
              <a:t>Small self-contained modules, so you can remove dependencies with the traditional big application servers</a:t>
            </a:r>
            <a:endParaRPr/>
          </a:p>
          <a:p>
            <a:endParaRPr/>
          </a:p>
          <a:p>
            <a:r>
              <a:rPr lang="en-GB"/>
              <a:t>– </a:t>
            </a:r>
            <a:r>
              <a:rPr lang="en-GB"/>
              <a:t>Previous point will allow us to get a huge increase of our architecture's versatility</a:t>
            </a:r>
            <a:endParaRPr/>
          </a:p>
          <a:p>
            <a:endParaRPr/>
          </a:p>
          <a:p>
            <a:r>
              <a:rPr lang="en-GB"/>
              <a:t>– </a:t>
            </a:r>
            <a:r>
              <a:rPr lang="en-GB"/>
              <a:t>The previous point will allow us to move Liferay's resiliency and scaling to the next point: horizontal scaling (distribution), applying some of the Hystrix concepts to our services, …</a:t>
            </a:r>
            <a:endParaRPr/>
          </a:p>
          <a:p>
            <a:endParaRPr/>
          </a:p>
          <a:p>
            <a:r>
              <a:rPr lang="en-GB"/>
              <a:t>– </a:t>
            </a:r>
            <a:r>
              <a:rPr lang="en-GB"/>
              <a:t>Many more … we need to discuss</a:t>
            </a:r>
            <a:endParaRPr/>
          </a:p>
          <a:p>
            <a:endParaRPr/>
          </a:p>
          <a:p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body"/>
          </p:nvPr>
        </p:nvSpPr>
        <p:spPr>
          <a:xfrm>
            <a:off x="648720" y="360000"/>
            <a:ext cx="6045480" cy="9790200"/>
          </a:xfrm>
          <a:prstGeom prst="rect">
            <a:avLst/>
          </a:prstGeom>
        </p:spPr>
        <p:txBody>
          <a:bodyPr bIns="0" lIns="0" rIns="0" tIns="0" wrap="none"/>
          <a:p>
            <a:r>
              <a:rPr lang="en-GB"/>
              <a:t>Hands-on on how to write some example applications:</a:t>
            </a:r>
            <a:endParaRPr/>
          </a:p>
          <a:p>
            <a:endParaRPr/>
          </a:p>
          <a:p>
            <a:r>
              <a:rPr lang="en-GB"/>
              <a:t>We can use some of the apps we have already builtin since, IMHO, they can be used for teaching purposes.</a:t>
            </a:r>
            <a:endParaRPr/>
          </a:p>
          <a:p>
            <a:endParaRPr/>
          </a:p>
          <a:p>
            <a:r>
              <a:rPr lang="en-GB"/>
              <a:t>This will help us not only to show how write the apps but to show the current abilities of the Plugins SDK related with all this new stuff</a:t>
            </a:r>
            <a:endParaRPr/>
          </a:p>
          <a:p>
            <a:endParaRPr/>
          </a:p>
          <a:p>
            <a:r>
              <a:rPr lang="en-GB"/>
              <a:t>My idea;</a:t>
            </a:r>
            <a:endParaRPr/>
          </a:p>
          <a:p>
            <a:endParaRPr/>
          </a:p>
          <a:p>
            <a:r>
              <a:rPr lang="en-GB"/>
              <a:t>Show the metrics application in order to expose how you can modularize your application</a:t>
            </a:r>
            <a:endParaRPr/>
          </a:p>
          <a:p>
            <a:r>
              <a:rPr lang="en-GB"/>
              <a:t>Show how to write a new command for the console</a:t>
            </a:r>
            <a:endParaRPr/>
          </a:p>
          <a:p>
            <a:r>
              <a:rPr lang="en-GB"/>
              <a:t>Build a new hook (OSGi based of course </a:t>
            </a:r>
            <a:r>
              <a:rPr lang="en-GB">
                <a:latin typeface="Wingdings"/>
              </a:rPr>
              <a:t> )</a:t>
            </a:r>
            <a:endParaRPr/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852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852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852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64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nly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82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AndObj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AndTwoObj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728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OverTx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852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OverTx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57200" y="3681720"/>
            <a:ext cx="82292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fourObj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467352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457200" y="36817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516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endParaRPr/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4673520" y="1604520"/>
            <a:ext cx="4015440" cy="1896840"/>
          </a:xfrm>
          <a:prstGeom prst="rect">
            <a:avLst/>
          </a:prstGeom>
        </p:spPr>
        <p:txBody>
          <a:bodyPr bIns="0" lIns="0" rIns="0" tIns="0" wrap="none"/>
          <a:p>
            <a:endParaRPr/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0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1120" cy="6855120"/>
          </a:xfrm>
          <a:prstGeom prst="rect">
            <a:avLst/>
          </a:prstGeom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GB"/>
              <a:t>Click to edit the title text format</a:t>
            </a:r>
            <a:endParaRPr/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25000"/>
              <a:buFont typeface="StarSymbol"/>
              <a:buChar char=""/>
            </a:pPr>
            <a:r>
              <a:rPr lang="en-GB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GB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GB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GB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GB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GB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GB"/>
              <a:t>Seventh Outline Level</a:t>
            </a:r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3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1120" cy="6855120"/>
          </a:xfrm>
          <a:prstGeom prst="rect">
            <a:avLst/>
          </a:prstGeom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GB"/>
              <a:t>Click to edit the title text format</a:t>
            </a:r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25000"/>
              <a:buFont typeface="StarSymbol"/>
              <a:buChar char=""/>
            </a:pPr>
            <a:r>
              <a:rPr lang="en-GB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GB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GB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GB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GB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GB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GB"/>
              <a:t>Seventh Outline Level</a:t>
            </a:r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GB"/>
              <a:t>Click to edit the title text format</a:t>
            </a:r>
            <a:endParaRPr/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25000"/>
              <a:buFont typeface="StarSymbol"/>
              <a:buChar char=""/>
            </a:pPr>
            <a:r>
              <a:rPr lang="en-GB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GB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GB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GB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GB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GB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GB"/>
              <a:t>Seventh Outline Level</a:t>
            </a:r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anchor="ctr" bIns="0" lIns="0" rIns="0" tIns="0" wrap="none"/>
          <a:p>
            <a:pPr algn="ctr"/>
            <a:r>
              <a:rPr lang="en-GB"/>
              <a:t>Click to edit the title text format</a:t>
            </a:r>
            <a:endParaRPr/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bIns="0" lIns="0" rIns="0" tIns="0" wrap="none"/>
          <a:p>
            <a:pPr>
              <a:buSzPct val="25000"/>
              <a:buFont typeface="StarSymbol"/>
              <a:buChar char=""/>
            </a:pPr>
            <a:r>
              <a:rPr lang="en-GB"/>
              <a:t>Click to edit the outline text format</a:t>
            </a:r>
            <a:endParaRPr/>
          </a:p>
          <a:p>
            <a:pPr lvl="1">
              <a:buSzPct val="25000"/>
              <a:buFont typeface="StarSymbol"/>
              <a:buChar char=""/>
            </a:pPr>
            <a:r>
              <a:rPr lang="en-GB"/>
              <a:t>Second Outline Level</a:t>
            </a:r>
            <a:endParaRPr/>
          </a:p>
          <a:p>
            <a:pPr lvl="2">
              <a:buSzPct val="25000"/>
              <a:buFont typeface="StarSymbol"/>
              <a:buChar char=""/>
            </a:pPr>
            <a:r>
              <a:rPr lang="en-GB"/>
              <a:t>Third Outline Level</a:t>
            </a:r>
            <a:endParaRPr/>
          </a:p>
          <a:p>
            <a:pPr lvl="3">
              <a:buSzPct val="25000"/>
              <a:buFont typeface="StarSymbol"/>
              <a:buChar char=""/>
            </a:pPr>
            <a:r>
              <a:rPr lang="en-GB"/>
              <a:t>Fourth Outline Level</a:t>
            </a:r>
            <a:endParaRPr/>
          </a:p>
          <a:p>
            <a:pPr lvl="4">
              <a:buSzPct val="25000"/>
              <a:buFont typeface="StarSymbol"/>
              <a:buChar char=""/>
            </a:pPr>
            <a:r>
              <a:rPr lang="en-GB"/>
              <a:t>Fifth Outline Level</a:t>
            </a:r>
            <a:endParaRPr/>
          </a:p>
          <a:p>
            <a:pPr lvl="5">
              <a:buSzPct val="25000"/>
              <a:buFont typeface="StarSymbol"/>
              <a:buChar char=""/>
            </a:pPr>
            <a:r>
              <a:rPr lang="en-GB"/>
              <a:t>Sixth Outline Level</a:t>
            </a:r>
            <a:endParaRPr/>
          </a:p>
          <a:p>
            <a:pPr lvl="6">
              <a:buSzPct val="25000"/>
              <a:buFont typeface="StarSymbol"/>
              <a:buChar char=""/>
            </a:pPr>
            <a:r>
              <a:rPr lang="en-GB"/>
              <a:t>Seventh Outline Level</a:t>
            </a:r>
            <a:endParaRPr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mailto:miguel.pastor@liferay.com" TargetMode="External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914400" y="2057400"/>
            <a:ext cx="7617240" cy="68292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200">
                <a:solidFill>
                  <a:srgbClr val="595959"/>
                </a:solidFill>
                <a:latin typeface="Arial"/>
                <a:ea typeface="Arial"/>
              </a:rPr>
              <a:t>Our way towards modularity</a:t>
            </a:r>
            <a:endParaRPr/>
          </a:p>
        </p:txBody>
      </p:sp>
      <p:sp>
        <p:nvSpPr>
          <p:cNvPr id="144" name="CustomShape 2"/>
          <p:cNvSpPr/>
          <p:nvPr/>
        </p:nvSpPr>
        <p:spPr>
          <a:xfrm>
            <a:off x="914400" y="2666880"/>
            <a:ext cx="5851080" cy="60660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lang="en-GB" sz="2400">
                <a:solidFill>
                  <a:srgbClr val="595959"/>
                </a:solidFill>
                <a:latin typeface="Arial"/>
                <a:ea typeface="DejaVu Sans"/>
              </a:rPr>
              <a:t>Liferay as an OSGi container</a:t>
            </a:r>
            <a:endParaRPr/>
          </a:p>
        </p:txBody>
      </p:sp>
      <p:sp>
        <p:nvSpPr>
          <p:cNvPr id="145" name="CustomShape 3"/>
          <p:cNvSpPr/>
          <p:nvPr/>
        </p:nvSpPr>
        <p:spPr>
          <a:xfrm>
            <a:off x="914400" y="3429000"/>
            <a:ext cx="4721400" cy="3020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lang="en-GB">
                <a:solidFill>
                  <a:srgbClr val="595959"/>
                </a:solidFill>
                <a:latin typeface="Arial"/>
                <a:ea typeface="DejaVu Sans"/>
              </a:rPr>
              <a:t>Miguel Ángel Pastor Olivar</a:t>
            </a:r>
            <a:endParaRPr/>
          </a:p>
        </p:txBody>
      </p:sp>
    </p:spTree>
  </p:cSld>
  <p:timing>
    <p:tnLst>
      <p:par>
        <p:cTn dur="indefinite" id="1" nodeType="tmRoot" restart="never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648000" y="1368000"/>
            <a:ext cx="8136000" cy="331200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4800">
                <a:solidFill>
                  <a:srgbClr val="595959"/>
                </a:solidFill>
                <a:latin typeface="Arial"/>
              </a:rPr>
              <a:t>I am not Raymond Augé. Sorry about that!</a:t>
            </a:r>
            <a:endParaRPr/>
          </a:p>
        </p:txBody>
      </p:sp>
      <p:sp>
        <p:nvSpPr>
          <p:cNvPr id="147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</p:sp>
    </p:spTree>
  </p:cSld>
  <p:timing>
    <p:tnLst>
      <p:par>
        <p:cTn dur="indefinite" id="3" nodeType="tmRoot" restart="never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380880" y="380880"/>
            <a:ext cx="58658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About me</a:t>
            </a:r>
            <a:endParaRPr/>
          </a:p>
        </p:txBody>
      </p:sp>
      <p:sp>
        <p:nvSpPr>
          <p:cNvPr id="149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Write code at the Liferay platform team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Phd student on distributed systems and cloud computing (currently on standby :-( )</a:t>
            </a:r>
            <a:endParaRPr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Scala enthusiast (support for writing plugins, more to come)</a:t>
            </a:r>
            <a:endParaRPr/>
          </a:p>
          <a:p>
            <a:pPr>
              <a:lnSpc>
                <a:spcPct val="2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Email: </a:t>
            </a:r>
            <a:r>
              <a:rPr lang="en-GB" sz="2400" u="sng">
                <a:solidFill>
                  <a:srgbClr val="595959"/>
                </a:solidFill>
                <a:latin typeface="Arial"/>
                <a:hlinkClick r:id="rId1"/>
              </a:rPr>
              <a:t>miguel.pastor@liferay.com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Twitter: @miguelinlas3</a:t>
            </a:r>
            <a:endParaRPr/>
          </a:p>
        </p:txBody>
      </p:sp>
    </p:spTree>
  </p:cSld>
  <p:timing>
    <p:tnLst>
      <p:par>
        <p:cTn dur="indefinite" id="5" nodeType="tmRoot" restart="never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7" nodeType="tmRoot" restart="never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380880" y="380880"/>
            <a:ext cx="58658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lang="en-GB" sz="3400">
                <a:solidFill>
                  <a:srgbClr val="595959"/>
                </a:solidFill>
                <a:latin typeface="Arial"/>
              </a:rPr>
              <a:t>Complexity in large systems</a:t>
            </a:r>
            <a:endParaRPr/>
          </a:p>
        </p:txBody>
      </p:sp>
      <p:sp>
        <p:nvSpPr>
          <p:cNvPr id="151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Large systems are extremely complex to develop and maintain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Highly coupled systems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Cloud computing:</a:t>
            </a:r>
            <a:endParaRPr/>
          </a:p>
          <a:p>
            <a:pPr lvl="2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Multitenancy </a:t>
            </a:r>
            <a:endParaRPr/>
          </a:p>
          <a:p>
            <a:pPr lvl="2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Multiple deployments are co-located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Footprint and performance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Distributed development</a:t>
            </a:r>
            <a:endParaRPr/>
          </a:p>
        </p:txBody>
      </p:sp>
    </p:spTree>
  </p:cSld>
  <p:timing>
    <p:tnLst>
      <p:par>
        <p:cTn dur="indefinite" id="9" nodeType="tmRoot" restart="never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ráfico 112"/>
          <p:cNvGraphicFramePr/>
          <p:nvPr/>
        </p:nvGraphicFramePr>
        <p:xfrm>
          <a:off x="648000" y="432000"/>
          <a:ext cx="7701480" cy="503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3" name="CustomShape 1"/>
          <p:cNvSpPr/>
          <p:nvPr/>
        </p:nvSpPr>
        <p:spPr>
          <a:xfrm>
            <a:off x="612000" y="972000"/>
            <a:ext cx="573480" cy="243360"/>
          </a:xfrm>
          <a:prstGeom prst="rect">
            <a:avLst/>
          </a:prstGeom>
        </p:spPr>
        <p:txBody>
          <a:bodyPr bIns="45000" lIns="90000" rIns="90000" tIns="45000" wrap="none"/>
          <a:p>
            <a:pPr>
              <a:lnSpc>
                <a:spcPct val="100000"/>
              </a:lnSpc>
            </a:pPr>
            <a:r>
              <a:rPr b="1" lang="en-GB" sz="1100">
                <a:solidFill>
                  <a:srgbClr val="000000"/>
                </a:solidFill>
                <a:latin typeface="Arial"/>
                <a:ea typeface="DejaVu Sans"/>
              </a:rPr>
              <a:t>Cost</a:t>
            </a:r>
            <a:endParaRPr/>
          </a:p>
        </p:txBody>
      </p:sp>
      <p:sp>
        <p:nvSpPr>
          <p:cNvPr id="154" name="CustomShape 2"/>
          <p:cNvSpPr/>
          <p:nvPr/>
        </p:nvSpPr>
        <p:spPr>
          <a:xfrm>
            <a:off x="6480000" y="4932000"/>
            <a:ext cx="933480" cy="398880"/>
          </a:xfrm>
          <a:prstGeom prst="rect">
            <a:avLst/>
          </a:prstGeom>
        </p:spPr>
        <p:txBody>
          <a:bodyPr bIns="45000" lIns="90000" rIns="90000" tIns="45000" wrap="none"/>
          <a:p>
            <a:pPr>
              <a:lnSpc>
                <a:spcPct val="100000"/>
              </a:lnSpc>
            </a:pPr>
            <a:r>
              <a:rPr b="1" lang="en-GB" sz="1100">
                <a:solidFill>
                  <a:srgbClr val="000000"/>
                </a:solidFill>
                <a:latin typeface="Arial"/>
                <a:ea typeface="DejaVu Sans"/>
              </a:rPr>
              <a:t>Complexity</a:t>
            </a:r>
            <a:endParaRPr/>
          </a:p>
        </p:txBody>
      </p:sp>
      <p:sp>
        <p:nvSpPr>
          <p:cNvPr id="155" name="Line 3"/>
          <p:cNvSpPr/>
          <p:nvPr/>
        </p:nvSpPr>
        <p:spPr>
          <a:xfrm flipV="1">
            <a:off x="6591960" y="1332000"/>
            <a:ext cx="432000" cy="288000"/>
          </a:xfrm>
          <a:prstGeom prst="line">
            <a:avLst/>
          </a:prstGeom>
          <a:ln w="36000">
            <a:solidFill>
              <a:srgbClr val="000000"/>
            </a:solidFill>
            <a:round/>
            <a:tailEnd len="med" type="triangle" w="med"/>
          </a:ln>
        </p:spPr>
      </p:sp>
      <p:sp>
        <p:nvSpPr>
          <p:cNvPr id="156" name="CustomShape 4"/>
          <p:cNvSpPr/>
          <p:nvPr/>
        </p:nvSpPr>
        <p:spPr>
          <a:xfrm>
            <a:off x="5944320" y="972000"/>
            <a:ext cx="1221480" cy="243360"/>
          </a:xfrm>
          <a:prstGeom prst="rect">
            <a:avLst/>
          </a:prstGeom>
        </p:spPr>
        <p:txBody>
          <a:bodyPr bIns="45000" lIns="90000" rIns="90000" tIns="45000" wrap="none"/>
          <a:p>
            <a:pPr>
              <a:lnSpc>
                <a:spcPct val="100000"/>
              </a:lnSpc>
            </a:pPr>
            <a:r>
              <a:rPr b="1" lang="en-GB" sz="1100">
                <a:solidFill>
                  <a:srgbClr val="000000"/>
                </a:solidFill>
                <a:latin typeface="Arial"/>
                <a:ea typeface="DejaVu Sans"/>
              </a:rPr>
              <a:t>Unmanageable</a:t>
            </a:r>
            <a:endParaRPr/>
          </a:p>
        </p:txBody>
      </p:sp>
    </p:spTree>
  </p:cSld>
  <p:timing>
    <p:tnLst>
      <p:par>
        <p:cTn dur="indefinite" id="11" nodeType="tmRoot" restart="never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13" nodeType="tmRoot" restart="never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380880" y="380880"/>
            <a:ext cx="58658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Looking for … (I)</a:t>
            </a:r>
            <a:endParaRPr/>
          </a:p>
        </p:txBody>
      </p:sp>
      <p:sp>
        <p:nvSpPr>
          <p:cNvPr id="158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Decoupled and highly focused components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Easier development process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Simplify current implementations/patterns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Easier addition of new features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Highly focused teams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Easier distributed development</a:t>
            </a:r>
            <a:endParaRPr/>
          </a:p>
        </p:txBody>
      </p:sp>
    </p:spTree>
  </p:cSld>
  <p:timing>
    <p:tnLst>
      <p:par>
        <p:cTn dur="indefinite" id="15" nodeType="tmRoot" restart="never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380880" y="380880"/>
            <a:ext cx="68900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Looking for … (II)</a:t>
            </a:r>
            <a:endParaRPr/>
          </a:p>
        </p:txBody>
      </p:sp>
      <p:sp>
        <p:nvSpPr>
          <p:cNvPr id="160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More frequent delivery of new features or improvements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Less bugs due to higher degree of focus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Quicker and simpler delivery of patches for bugs and security issues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Robustness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GB" sz="2400">
                <a:solidFill>
                  <a:srgbClr val="595959"/>
                </a:solidFill>
                <a:latin typeface="Arial"/>
              </a:rPr>
              <a:t>Footprint</a:t>
            </a:r>
            <a:endParaRPr/>
          </a:p>
        </p:txBody>
      </p:sp>
    </p:spTree>
  </p:cSld>
  <p:timing>
    <p:tnLst>
      <p:par>
        <p:cTn dur="indefinite" id="17" nodeType="tmRoot" restart="never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19" nodeType="tmRoot" restart="never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5256000" y="216000"/>
            <a:ext cx="3600000" cy="1800000"/>
          </a:xfrm>
          <a:prstGeom prst="textPlainText">
            <a:avLst>
              <a:gd fmla="val 10800" name="adj"/>
            </a:avLst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txBody>
          <a:bodyPr anchor="ctr" anchorCtr="1" bIns="46800" lIns="90000" rIns="90000" tIns="46800"/>
          <a:p>
            <a:r>
              <a:rPr lang="en-GB">
                <a:latin typeface="Arial Black"/>
              </a:rPr>
              <a:t>FAIL!</a:t>
            </a:r>
            <a:endParaRPr/>
          </a:p>
        </p:txBody>
      </p:sp>
    </p:spTree>
  </p:cSld>
  <p:timing>
    <p:tnLst>
      <p:par>
        <p:cTn dur="indefinite" id="21" nodeType="tmRoot" restart="never">
          <p:childTnLst>
            <p:seq>
              <p:cTn id="22" nodeType="mainSeq">
                <p:childTnLst>
                  <p:par>
                    <p:cTn fill="freeze" id="23">
                      <p:stCondLst>
                        <p:cond delay="indefinite"/>
                      </p:stCondLst>
                      <p:childTnLst>
                        <p:par>
                          <p:cTn fill="freeze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27" nodeType="tmRoot" restart="never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29" nodeType="tmRoot" restart="never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162" name="Imagen 117"/>
          <p:cNvPicPr/>
          <p:nvPr/>
        </p:nvPicPr>
        <p:blipFill>
          <a:blip r:embed="rId1"/>
          <a:stretch>
            <a:fillRect/>
          </a:stretch>
        </p:blipFill>
        <p:spPr>
          <a:xfrm>
            <a:off x="504000" y="523440"/>
            <a:ext cx="7630560" cy="5019120"/>
          </a:xfrm>
          <a:prstGeom prst="rect">
            <a:avLst/>
          </a:prstGeom>
        </p:spPr>
      </p:pic>
    </p:spTree>
  </p:cSld>
  <p:timing>
    <p:tnLst>
      <p:par>
        <p:cTn dur="indefinite" id="31" nodeType="tmRoot" restart="never">
          <p:childTnLst>
            <p:seq>
              <p:cTn id="3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" id="163" name="Imagen 118"/>
          <p:cNvPicPr/>
          <p:nvPr/>
        </p:nvPicPr>
        <p:blipFill>
          <a:blip r:embed="rId1"/>
          <a:stretch>
            <a:fillRect/>
          </a:stretch>
        </p:blipFill>
        <p:spPr>
          <a:xfrm>
            <a:off x="792000" y="386280"/>
            <a:ext cx="7558560" cy="5012280"/>
          </a:xfrm>
          <a:prstGeom prst="rect">
            <a:avLst/>
          </a:prstGeom>
        </p:spPr>
      </p:pic>
    </p:spTree>
  </p:cSld>
  <p:timing>
    <p:tnLst>
      <p:par>
        <p:cTn dur="indefinite" id="33" nodeType="tmRoot" restart="never">
          <p:childTnLst>
            <p:seq>
              <p:cTn id="3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35" nodeType="tmRoot" restart="never">
          <p:childTnLst>
            <p:seq>
              <p:cTn id="3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380880" y="380880"/>
            <a:ext cx="68900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Architecture overview (I)</a:t>
            </a:r>
            <a:endParaRPr/>
          </a:p>
        </p:txBody>
      </p:sp>
      <p:sp>
        <p:nvSpPr>
          <p:cNvPr id="165" name="CustomShape 2"/>
          <p:cNvSpPr/>
          <p:nvPr/>
        </p:nvSpPr>
        <p:spPr>
          <a:xfrm>
            <a:off x="1152000" y="1440000"/>
            <a:ext cx="6479280" cy="3887280"/>
          </a:xfrm>
          <a:prstGeom prst="roundRect">
            <a:avLst>
              <a:gd fmla="val 3600" name="adj"/>
            </a:avLst>
          </a:prstGeom>
          <a:solidFill>
            <a:srgbClr val="ffd320"/>
          </a:solidFill>
          <a:ln>
            <a:solidFill>
              <a:srgbClr val="3465af"/>
            </a:solidFill>
          </a:ln>
        </p:spPr>
      </p:sp>
      <p:sp>
        <p:nvSpPr>
          <p:cNvPr id="166" name="CustomShape 3"/>
          <p:cNvSpPr/>
          <p:nvPr/>
        </p:nvSpPr>
        <p:spPr>
          <a:xfrm>
            <a:off x="1728000" y="2520000"/>
            <a:ext cx="2735280" cy="2519280"/>
          </a:xfrm>
          <a:prstGeom prst="roundRect">
            <a:avLst>
              <a:gd fmla="val 3600" name="adj"/>
            </a:avLst>
          </a:prstGeom>
          <a:solidFill>
            <a:srgbClr val="0084d1"/>
          </a:solidFill>
          <a:ln>
            <a:solidFill>
              <a:srgbClr val="3465af"/>
            </a:solidFill>
          </a:ln>
        </p:spPr>
      </p:sp>
      <p:sp>
        <p:nvSpPr>
          <p:cNvPr id="167" name="CustomShape 4"/>
          <p:cNvSpPr/>
          <p:nvPr/>
        </p:nvSpPr>
        <p:spPr>
          <a:xfrm>
            <a:off x="1872000" y="1584000"/>
            <a:ext cx="2159280" cy="2451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100">
                <a:solidFill>
                  <a:srgbClr val="ffffff"/>
                </a:solidFill>
              </a:rPr>
              <a:t>Application Server + Liferay</a:t>
            </a:r>
            <a:endParaRPr/>
          </a:p>
        </p:txBody>
      </p:sp>
      <p:sp>
        <p:nvSpPr>
          <p:cNvPr id="168" name="CustomShape 5"/>
          <p:cNvSpPr/>
          <p:nvPr/>
        </p:nvSpPr>
        <p:spPr>
          <a:xfrm>
            <a:off x="1944000" y="2664000"/>
            <a:ext cx="2159280" cy="2451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100">
                <a:solidFill>
                  <a:srgbClr val="ffffff"/>
                </a:solidFill>
              </a:rPr>
              <a:t>Embedded OSGi container</a:t>
            </a:r>
            <a:endParaRPr/>
          </a:p>
        </p:txBody>
      </p:sp>
      <p:sp>
        <p:nvSpPr>
          <p:cNvPr id="169" name="CustomShape 6"/>
          <p:cNvSpPr/>
          <p:nvPr/>
        </p:nvSpPr>
        <p:spPr>
          <a:xfrm>
            <a:off x="5688000" y="1944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996633"/>
          </a:solidFill>
          <a:ln>
            <a:solidFill>
              <a:srgbClr val="3465af"/>
            </a:solidFill>
          </a:ln>
        </p:spPr>
      </p:sp>
      <p:sp>
        <p:nvSpPr>
          <p:cNvPr id="170" name="CustomShape 7"/>
          <p:cNvSpPr/>
          <p:nvPr/>
        </p:nvSpPr>
        <p:spPr>
          <a:xfrm>
            <a:off x="5688000" y="3096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996633"/>
          </a:solidFill>
          <a:ln>
            <a:solidFill>
              <a:srgbClr val="3465af"/>
            </a:solidFill>
          </a:ln>
        </p:spPr>
      </p:sp>
      <p:sp>
        <p:nvSpPr>
          <p:cNvPr id="171" name="CustomShape 8"/>
          <p:cNvSpPr/>
          <p:nvPr/>
        </p:nvSpPr>
        <p:spPr>
          <a:xfrm>
            <a:off x="5688000" y="4392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996633"/>
          </a:solidFill>
          <a:ln>
            <a:solidFill>
              <a:srgbClr val="3465af"/>
            </a:solidFill>
          </a:ln>
        </p:spPr>
      </p:sp>
      <p:sp>
        <p:nvSpPr>
          <p:cNvPr id="172" name="CustomShape 9"/>
          <p:cNvSpPr/>
          <p:nvPr/>
        </p:nvSpPr>
        <p:spPr>
          <a:xfrm>
            <a:off x="2376000" y="3384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73" name="CustomShape 10"/>
          <p:cNvSpPr/>
          <p:nvPr/>
        </p:nvSpPr>
        <p:spPr>
          <a:xfrm>
            <a:off x="3384000" y="3384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74" name="CustomShape 11"/>
          <p:cNvSpPr/>
          <p:nvPr/>
        </p:nvSpPr>
        <p:spPr>
          <a:xfrm>
            <a:off x="2304000" y="4320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75" name="CustomShape 12"/>
          <p:cNvSpPr/>
          <p:nvPr/>
        </p:nvSpPr>
        <p:spPr>
          <a:xfrm>
            <a:off x="3348000" y="4320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76" name="CustomShape 13"/>
          <p:cNvSpPr/>
          <p:nvPr/>
        </p:nvSpPr>
        <p:spPr>
          <a:xfrm>
            <a:off x="5760000" y="208800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App</a:t>
            </a:r>
            <a:endParaRPr/>
          </a:p>
        </p:txBody>
      </p:sp>
      <p:sp>
        <p:nvSpPr>
          <p:cNvPr id="177" name="CustomShape 14"/>
          <p:cNvSpPr/>
          <p:nvPr/>
        </p:nvSpPr>
        <p:spPr>
          <a:xfrm>
            <a:off x="5760000" y="327636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App</a:t>
            </a:r>
            <a:endParaRPr/>
          </a:p>
        </p:txBody>
      </p:sp>
      <p:sp>
        <p:nvSpPr>
          <p:cNvPr id="178" name="CustomShape 15"/>
          <p:cNvSpPr/>
          <p:nvPr/>
        </p:nvSpPr>
        <p:spPr>
          <a:xfrm>
            <a:off x="5760000" y="457236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App</a:t>
            </a:r>
            <a:endParaRPr/>
          </a:p>
        </p:txBody>
      </p:sp>
      <p:sp>
        <p:nvSpPr>
          <p:cNvPr id="179" name="CustomShape 16"/>
          <p:cNvSpPr/>
          <p:nvPr/>
        </p:nvSpPr>
        <p:spPr>
          <a:xfrm>
            <a:off x="2448000" y="356436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80" name="CustomShape 17"/>
          <p:cNvSpPr/>
          <p:nvPr/>
        </p:nvSpPr>
        <p:spPr>
          <a:xfrm>
            <a:off x="3456000" y="3564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81" name="CustomShape 18"/>
          <p:cNvSpPr/>
          <p:nvPr/>
        </p:nvSpPr>
        <p:spPr>
          <a:xfrm>
            <a:off x="2376000" y="4500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82" name="CustomShape 19"/>
          <p:cNvSpPr/>
          <p:nvPr/>
        </p:nvSpPr>
        <p:spPr>
          <a:xfrm>
            <a:off x="3420000" y="4500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</p:spTree>
  </p:cSld>
  <p:timing>
    <p:tnLst>
      <p:par>
        <p:cTn dur="indefinite" id="37" nodeType="tmRoot" restart="never">
          <p:childTnLst>
            <p:seq>
              <p:cTn id="38" nodeType="mainSeq">
                <p:childTnLst>
                  <p:par>
                    <p:cTn fill="freeze" id="39">
                      <p:stCondLst>
                        <p:cond delay="indefinite"/>
                      </p:stCondLst>
                      <p:childTnLst>
                        <p:par>
                          <p:cTn fill="freeze" id="40">
                            <p:stCondLst>
                              <p:cond delay="0"/>
                            </p:stCondLst>
                            <p:childTnLst>
                              <p:par>
                                <p:cTn fill="hold" id="41" nodeType="clickEffect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out">
                                      <p:cBhvr additive="repl">
                                        <p:cTn dur="2000" fill="freeze" id="43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44">
                      <p:stCondLst>
                        <p:cond delay="indefinite"/>
                      </p:stCondLst>
                      <p:childTnLst>
                        <p:par>
                          <p:cTn fill="freeze" id="45">
                            <p:stCondLst>
                              <p:cond delay="0"/>
                            </p:stCondLst>
                            <p:childTnLst>
                              <p:par>
                                <p:cTn fill="hold" id="46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48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51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52">
                      <p:stCondLst>
                        <p:cond delay="indefinite"/>
                      </p:stCondLst>
                      <p:childTnLst>
                        <p:par>
                          <p:cTn fill="freeze" id="53">
                            <p:stCondLst>
                              <p:cond delay="0"/>
                            </p:stCondLst>
                            <p:childTnLst>
                              <p:par>
                                <p:cTn fill="hold" id="54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56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59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60">
                      <p:stCondLst>
                        <p:cond delay="indefinite"/>
                      </p:stCondLst>
                      <p:childTnLst>
                        <p:par>
                          <p:cTn fill="freeze" id="61">
                            <p:stCondLst>
                              <p:cond delay="0"/>
                            </p:stCondLst>
                            <p:childTnLst>
                              <p:par>
                                <p:cTn fill="hold" id="62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64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67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68">
                      <p:stCondLst>
                        <p:cond delay="indefinite"/>
                      </p:stCondLst>
                      <p:childTnLst>
                        <p:par>
                          <p:cTn fill="freeze" id="69">
                            <p:stCondLst>
                              <p:cond delay="0"/>
                            </p:stCondLst>
                            <p:childTnLst>
                              <p:par>
                                <p:cTn fill="hold" id="70" nodeType="click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72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75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76">
                      <p:stCondLst>
                        <p:cond delay="indefinite"/>
                      </p:stCondLst>
                      <p:childTnLst>
                        <p:par>
                          <p:cTn fill="freeze" id="77">
                            <p:stCondLst>
                              <p:cond delay="0"/>
                            </p:stCondLst>
                            <p:childTnLst>
                              <p:par>
                                <p:cTn fill="hold" id="78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8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83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84">
                      <p:stCondLst>
                        <p:cond delay="indefinite"/>
                      </p:stCondLst>
                      <p:childTnLst>
                        <p:par>
                          <p:cTn fill="freeze" id="85">
                            <p:stCondLst>
                              <p:cond delay="0"/>
                            </p:stCondLst>
                            <p:childTnLst>
                              <p:par>
                                <p:cTn fill="hold" id="86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88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91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92">
                      <p:stCondLst>
                        <p:cond delay="indefinite"/>
                      </p:stCondLst>
                      <p:childTnLst>
                        <p:par>
                          <p:cTn fill="freeze" id="93">
                            <p:stCondLst>
                              <p:cond delay="0"/>
                            </p:stCondLst>
                            <p:childTnLst>
                              <p:par>
                                <p:cTn fill="hold" id="94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96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99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100">
                      <p:stCondLst>
                        <p:cond delay="indefinite"/>
                      </p:stCondLst>
                      <p:childTnLst>
                        <p:par>
                          <p:cTn fill="freeze" id="101">
                            <p:stCondLst>
                              <p:cond delay="0"/>
                            </p:stCondLst>
                            <p:childTnLst>
                              <p:par>
                                <p:cTn fill="hold" id="102" nodeType="click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104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05" nodeType="withEffect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out">
                                      <p:cBhvr additive="repl">
                                        <p:cTn dur="500" fill="freeze" id="107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380880" y="380880"/>
            <a:ext cx="68900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Architecture overview (II)</a:t>
            </a:r>
            <a:endParaRPr/>
          </a:p>
        </p:txBody>
      </p:sp>
      <p:sp>
        <p:nvSpPr>
          <p:cNvPr id="184" name="CustomShape 2"/>
          <p:cNvSpPr/>
          <p:nvPr/>
        </p:nvSpPr>
        <p:spPr>
          <a:xfrm>
            <a:off x="864000" y="1368000"/>
            <a:ext cx="6911280" cy="3959280"/>
          </a:xfrm>
          <a:prstGeom prst="roundRect">
            <a:avLst>
              <a:gd fmla="val 3600" name="adj"/>
            </a:avLst>
          </a:prstGeom>
          <a:solidFill>
            <a:srgbClr val="0084d1"/>
          </a:solidFill>
          <a:ln>
            <a:solidFill>
              <a:srgbClr val="3465af"/>
            </a:solidFill>
          </a:ln>
        </p:spPr>
      </p:sp>
      <p:sp>
        <p:nvSpPr>
          <p:cNvPr id="185" name="CustomShape 3"/>
          <p:cNvSpPr/>
          <p:nvPr/>
        </p:nvSpPr>
        <p:spPr>
          <a:xfrm>
            <a:off x="4752000" y="1626120"/>
            <a:ext cx="2519280" cy="6771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400">
                <a:solidFill>
                  <a:srgbClr val="ffffff"/>
                </a:solidFill>
              </a:rPr>
              <a:t>Embedded OSGi container</a:t>
            </a:r>
            <a:endParaRPr/>
          </a:p>
        </p:txBody>
      </p:sp>
      <p:sp>
        <p:nvSpPr>
          <p:cNvPr id="186" name="CustomShape 4"/>
          <p:cNvSpPr/>
          <p:nvPr/>
        </p:nvSpPr>
        <p:spPr>
          <a:xfrm>
            <a:off x="5112000" y="2556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87" name="CustomShape 5"/>
          <p:cNvSpPr/>
          <p:nvPr/>
        </p:nvSpPr>
        <p:spPr>
          <a:xfrm>
            <a:off x="6120000" y="2556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88" name="CustomShape 6"/>
          <p:cNvSpPr/>
          <p:nvPr/>
        </p:nvSpPr>
        <p:spPr>
          <a:xfrm>
            <a:off x="5040000" y="3780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89" name="CustomShape 7"/>
          <p:cNvSpPr/>
          <p:nvPr/>
        </p:nvSpPr>
        <p:spPr>
          <a:xfrm>
            <a:off x="6084000" y="3780000"/>
            <a:ext cx="575280" cy="57528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>
            <a:solidFill>
              <a:srgbClr val="3465af"/>
            </a:solidFill>
          </a:ln>
        </p:spPr>
      </p:sp>
      <p:sp>
        <p:nvSpPr>
          <p:cNvPr id="190" name="CustomShape 8"/>
          <p:cNvSpPr/>
          <p:nvPr/>
        </p:nvSpPr>
        <p:spPr>
          <a:xfrm>
            <a:off x="5184000" y="273636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91" name="CustomShape 9"/>
          <p:cNvSpPr/>
          <p:nvPr/>
        </p:nvSpPr>
        <p:spPr>
          <a:xfrm>
            <a:off x="6192000" y="2736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92" name="CustomShape 10"/>
          <p:cNvSpPr/>
          <p:nvPr/>
        </p:nvSpPr>
        <p:spPr>
          <a:xfrm>
            <a:off x="5112000" y="3960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93" name="CustomShape 11"/>
          <p:cNvSpPr/>
          <p:nvPr/>
        </p:nvSpPr>
        <p:spPr>
          <a:xfrm>
            <a:off x="6156000" y="3960720"/>
            <a:ext cx="431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000000"/>
                </a:solidFill>
              </a:rPr>
              <a:t>App</a:t>
            </a:r>
            <a:endParaRPr/>
          </a:p>
        </p:txBody>
      </p:sp>
      <p:sp>
        <p:nvSpPr>
          <p:cNvPr id="194" name="CustomShape 12"/>
          <p:cNvSpPr/>
          <p:nvPr/>
        </p:nvSpPr>
        <p:spPr>
          <a:xfrm>
            <a:off x="1728000" y="1836000"/>
            <a:ext cx="863280" cy="719280"/>
          </a:xfrm>
          <a:prstGeom prst="roundRect">
            <a:avLst>
              <a:gd fmla="val 3600" name="adj"/>
            </a:avLst>
          </a:prstGeom>
          <a:solidFill>
            <a:srgbClr val="008000"/>
          </a:solidFill>
          <a:ln>
            <a:solidFill>
              <a:srgbClr val="3465af"/>
            </a:solidFill>
          </a:ln>
        </p:spPr>
      </p:sp>
      <p:sp>
        <p:nvSpPr>
          <p:cNvPr id="195" name="CustomShape 13"/>
          <p:cNvSpPr/>
          <p:nvPr/>
        </p:nvSpPr>
        <p:spPr>
          <a:xfrm>
            <a:off x="1728000" y="2049480"/>
            <a:ext cx="863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Log Service</a:t>
            </a:r>
            <a:endParaRPr/>
          </a:p>
        </p:txBody>
      </p:sp>
      <p:sp>
        <p:nvSpPr>
          <p:cNvPr id="196" name="CustomShape 14"/>
          <p:cNvSpPr/>
          <p:nvPr/>
        </p:nvSpPr>
        <p:spPr>
          <a:xfrm>
            <a:off x="3096000" y="2340000"/>
            <a:ext cx="863280" cy="719280"/>
          </a:xfrm>
          <a:prstGeom prst="roundRect">
            <a:avLst>
              <a:gd fmla="val 3600" name="adj"/>
            </a:avLst>
          </a:prstGeom>
          <a:solidFill>
            <a:srgbClr val="008000"/>
          </a:solidFill>
          <a:ln>
            <a:solidFill>
              <a:srgbClr val="3465af"/>
            </a:solidFill>
          </a:ln>
        </p:spPr>
      </p:sp>
      <p:sp>
        <p:nvSpPr>
          <p:cNvPr id="197" name="CustomShape 15"/>
          <p:cNvSpPr/>
          <p:nvPr/>
        </p:nvSpPr>
        <p:spPr>
          <a:xfrm>
            <a:off x="3096000" y="2553480"/>
            <a:ext cx="863280" cy="21780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Http Service</a:t>
            </a:r>
            <a:endParaRPr/>
          </a:p>
        </p:txBody>
      </p:sp>
      <p:sp>
        <p:nvSpPr>
          <p:cNvPr id="198" name="CustomShape 16"/>
          <p:cNvSpPr/>
          <p:nvPr/>
        </p:nvSpPr>
        <p:spPr>
          <a:xfrm>
            <a:off x="1656000" y="3060000"/>
            <a:ext cx="863280" cy="719280"/>
          </a:xfrm>
          <a:prstGeom prst="roundRect">
            <a:avLst>
              <a:gd fmla="val 3600" name="adj"/>
            </a:avLst>
          </a:prstGeom>
          <a:solidFill>
            <a:srgbClr val="ff0000"/>
          </a:solidFill>
          <a:ln>
            <a:solidFill>
              <a:srgbClr val="3465af"/>
            </a:solidFill>
          </a:ln>
        </p:spPr>
      </p:sp>
      <p:sp>
        <p:nvSpPr>
          <p:cNvPr id="199" name="CustomShape 17"/>
          <p:cNvSpPr/>
          <p:nvPr/>
        </p:nvSpPr>
        <p:spPr>
          <a:xfrm>
            <a:off x="1656000" y="3273480"/>
            <a:ext cx="863280" cy="3459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Web Extender</a:t>
            </a:r>
            <a:endParaRPr/>
          </a:p>
        </p:txBody>
      </p:sp>
      <p:sp>
        <p:nvSpPr>
          <p:cNvPr id="200" name="CustomShape 18"/>
          <p:cNvSpPr/>
          <p:nvPr/>
        </p:nvSpPr>
        <p:spPr>
          <a:xfrm>
            <a:off x="2988000" y="3780000"/>
            <a:ext cx="863280" cy="719280"/>
          </a:xfrm>
          <a:prstGeom prst="roundRect">
            <a:avLst>
              <a:gd fmla="val 3600" name="adj"/>
            </a:avLst>
          </a:prstGeom>
          <a:solidFill>
            <a:srgbClr val="ff0000"/>
          </a:solidFill>
          <a:ln>
            <a:solidFill>
              <a:srgbClr val="3465af"/>
            </a:solidFill>
          </a:ln>
        </p:spPr>
      </p:sp>
      <p:sp>
        <p:nvSpPr>
          <p:cNvPr id="201" name="CustomShape 19"/>
          <p:cNvSpPr/>
          <p:nvPr/>
        </p:nvSpPr>
        <p:spPr>
          <a:xfrm>
            <a:off x="2988000" y="3993480"/>
            <a:ext cx="863280" cy="3459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JSP Support</a:t>
            </a:r>
            <a:endParaRPr/>
          </a:p>
        </p:txBody>
      </p:sp>
      <p:sp>
        <p:nvSpPr>
          <p:cNvPr id="202" name="CustomShape 20"/>
          <p:cNvSpPr/>
          <p:nvPr/>
        </p:nvSpPr>
        <p:spPr>
          <a:xfrm>
            <a:off x="1548000" y="4356000"/>
            <a:ext cx="863280" cy="719280"/>
          </a:xfrm>
          <a:prstGeom prst="roundRect">
            <a:avLst>
              <a:gd fmla="val 3600" name="adj"/>
            </a:avLst>
          </a:prstGeom>
          <a:solidFill>
            <a:srgbClr val="ff0000"/>
          </a:solidFill>
          <a:ln>
            <a:solidFill>
              <a:srgbClr val="3465af"/>
            </a:solidFill>
          </a:ln>
        </p:spPr>
      </p:sp>
      <p:sp>
        <p:nvSpPr>
          <p:cNvPr id="203" name="CustomShape 21"/>
          <p:cNvSpPr/>
          <p:nvPr/>
        </p:nvSpPr>
        <p:spPr>
          <a:xfrm>
            <a:off x="1548000" y="4569480"/>
            <a:ext cx="863280" cy="34596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900">
                <a:solidFill>
                  <a:srgbClr val="ffffff"/>
                </a:solidFill>
              </a:rPr>
              <a:t>JSTL Support</a:t>
            </a:r>
            <a:endParaRPr/>
          </a:p>
        </p:txBody>
      </p:sp>
    </p:spTree>
  </p:cSld>
  <p:timing>
    <p:tnLst>
      <p:par>
        <p:cTn dur="indefinite" id="108" nodeType="tmRoot" restart="never">
          <p:childTnLst>
            <p:seq>
              <p:cTn id="109" nodeType="mainSeq">
                <p:childTnLst>
                  <p:par>
                    <p:cTn fill="freeze" id="110">
                      <p:stCondLst>
                        <p:cond delay="indefinite"/>
                      </p:stCondLst>
                      <p:childTnLst>
                        <p:par>
                          <p:cTn fill="freeze" id="111">
                            <p:stCondLst>
                              <p:cond delay="0"/>
                            </p:stCondLst>
                            <p:childTnLst>
                              <p:par>
                                <p:cTn fill="hold" id="112" nodeType="click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14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15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17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118">
                      <p:stCondLst>
                        <p:cond delay="indefinite"/>
                      </p:stCondLst>
                      <p:childTnLst>
                        <p:par>
                          <p:cTn fill="freeze" id="119">
                            <p:stCondLst>
                              <p:cond delay="0"/>
                            </p:stCondLst>
                            <p:childTnLst>
                              <p:par>
                                <p:cTn fill="hold" id="120" nodeType="click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122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23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125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26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128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29" nodeType="withEffect" presetClass="entr" presetID="18" presetSubtype="1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strips(downLeft)" transition="in">
                                      <p:cBhvr additive="repl">
                                        <p:cTn dur="500" fill="freeze" id="131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132">
                      <p:stCondLst>
                        <p:cond delay="indefinite"/>
                      </p:stCondLst>
                      <p:childTnLst>
                        <p:par>
                          <p:cTn fill="freeze" id="133">
                            <p:stCondLst>
                              <p:cond delay="0"/>
                            </p:stCondLst>
                            <p:childTnLst>
                              <p:par>
                                <p:cTn fill="hold" id="134" nodeType="click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36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37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39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40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42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43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45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46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48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49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51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freeze" id="152">
                      <p:stCondLst>
                        <p:cond delay="indefinite"/>
                      </p:stCondLst>
                      <p:childTnLst>
                        <p:par>
                          <p:cTn fill="freeze" id="153">
                            <p:stCondLst>
                              <p:cond delay="0"/>
                            </p:stCondLst>
                            <p:childTnLst>
                              <p:par>
                                <p:cTn fill="hold" id="154" nodeType="click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56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57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59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60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62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63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65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66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68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69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71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72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74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75" nodeType="withEffect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dur="500" fill="freeze" id="177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178" nodeType="tmRoot" restart="never">
          <p:childTnLst>
            <p:seq>
              <p:cTn id="179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380880" y="380880"/>
            <a:ext cx="58658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Looking to the future (I)</a:t>
            </a:r>
            <a:endParaRPr/>
          </a:p>
        </p:txBody>
      </p:sp>
      <p:sp>
        <p:nvSpPr>
          <p:cNvPr id="205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GB" sz="2400">
                <a:solidFill>
                  <a:srgbClr val="595959"/>
                </a:solidFill>
                <a:latin typeface="Arial"/>
              </a:rPr>
              <a:t>JSP support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Already done, not ready for release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Vaadin (perfect match), Freemarker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GB" sz="2400">
                <a:solidFill>
                  <a:srgbClr val="595959"/>
                </a:solidFill>
                <a:latin typeface="Arial"/>
              </a:rPr>
              <a:t>Web Application Bundle specs 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Already done, not ready for release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b="1" lang="en-GB" sz="2400">
                <a:solidFill>
                  <a:srgbClr val="595959"/>
                </a:solidFill>
                <a:latin typeface="Arial"/>
              </a:rPr>
              <a:t>Improving the core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Powerful registry mechanism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Easier extensibility and reuse of components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Real dependency management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Development focus, distributed teams, ...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  <p:timing>
    <p:tnLst>
      <p:par>
        <p:cTn dur="indefinite" id="180" nodeType="tmRoot" restart="never">
          <p:childTnLst>
            <p:seq>
              <p:cTn id="181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380880" y="380880"/>
            <a:ext cx="586584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400">
                <a:solidFill>
                  <a:srgbClr val="595959"/>
                </a:solidFill>
                <a:latin typeface="Arial"/>
              </a:rPr>
              <a:t>Looking to the future (II)</a:t>
            </a:r>
            <a:endParaRPr/>
          </a:p>
        </p:txBody>
      </p:sp>
      <p:sp>
        <p:nvSpPr>
          <p:cNvPr id="207" name="CustomShape 2"/>
          <p:cNvSpPr/>
          <p:nvPr/>
        </p:nvSpPr>
        <p:spPr>
          <a:xfrm>
            <a:off x="380880" y="1143000"/>
            <a:ext cx="8533080" cy="426564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2400">
                <a:solidFill>
                  <a:srgbClr val="595959"/>
                </a:solidFill>
                <a:latin typeface="Arial"/>
              </a:rPr>
              <a:t>Small self-contained modules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>
              <a:lnSpc>
                <a:spcPct val="100000"/>
              </a:lnSpc>
            </a:pPr>
            <a:r>
              <a:rPr b="1" lang="en-GB" sz="2400">
                <a:solidFill>
                  <a:srgbClr val="595959"/>
                </a:solidFill>
                <a:latin typeface="Arial"/>
              </a:rPr>
              <a:t>Previous points lead us to</a:t>
            </a: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Increase Liferay architecture versatility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Resiliency and scaling: moving to the next point</a:t>
            </a:r>
            <a:endParaRPr/>
          </a:p>
          <a:p>
            <a:pPr>
              <a:lnSpc>
                <a:spcPct val="100000"/>
              </a:lnSpc>
            </a:pPr>
            <a:endParaRPr/>
          </a:p>
          <a:p>
            <a:pPr lvl="1">
              <a:lnSpc>
                <a:spcPct val="100000"/>
              </a:lnSpc>
              <a:buSzPct val="25000"/>
              <a:buFont typeface="StarSymbol"/>
              <a:buChar char=""/>
            </a:pPr>
            <a:r>
              <a:rPr lang="en-GB" sz="2400">
                <a:solidFill>
                  <a:srgbClr val="595959"/>
                </a:solidFill>
                <a:latin typeface="Arial"/>
              </a:rPr>
              <a:t>… </a:t>
            </a:r>
            <a:r>
              <a:rPr lang="en-GB" sz="2400">
                <a:solidFill>
                  <a:srgbClr val="595959"/>
                </a:solidFill>
                <a:latin typeface="Arial"/>
              </a:rPr>
              <a:t>we still have many things to discuss</a:t>
            </a:r>
            <a:endParaRPr/>
          </a:p>
        </p:txBody>
      </p:sp>
    </p:spTree>
  </p:cSld>
  <p:timing>
    <p:tnLst>
      <p:par>
        <p:cTn dur="indefinite" id="182" nodeType="tmRoot" restart="never">
          <p:childTnLst>
            <p:seq>
              <p:cTn id="183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184" nodeType="tmRoot" restart="never">
          <p:childTnLst>
            <p:seq>
              <p:cTn id="185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380880" y="380880"/>
            <a:ext cx="8043120" cy="760680"/>
          </a:xfrm>
          <a:prstGeom prst="rect">
            <a:avLst/>
          </a:prstGeom>
        </p:spPr>
        <p:txBody>
          <a:bodyPr bIns="45000" lIns="90000" rIns="90000" tIns="45000"/>
          <a:p>
            <a:pPr>
              <a:lnSpc>
                <a:spcPct val="100000"/>
              </a:lnSpc>
            </a:pPr>
            <a:r>
              <a:rPr b="1" lang="en-GB" sz="3000">
                <a:solidFill>
                  <a:srgbClr val="595959"/>
                </a:solidFill>
                <a:latin typeface="Arial"/>
              </a:rPr>
              <a:t>A simple and extensible metrics system</a:t>
            </a:r>
            <a:endParaRPr/>
          </a:p>
        </p:txBody>
      </p:sp>
      <p:sp>
        <p:nvSpPr>
          <p:cNvPr id="209" name="CustomShape 2"/>
          <p:cNvSpPr/>
          <p:nvPr/>
        </p:nvSpPr>
        <p:spPr>
          <a:xfrm>
            <a:off x="3456000" y="2664000"/>
            <a:ext cx="1800000" cy="1080000"/>
          </a:xfrm>
          <a:prstGeom prst="roundRect">
            <a:avLst>
              <a:gd fmla="val 3600" name="adj"/>
            </a:avLst>
          </a:prstGeom>
          <a:solidFill>
            <a:srgbClr val="0099ff"/>
          </a:solidFill>
          <a:ln>
            <a:solidFill>
              <a:srgbClr val="3465af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GB">
                <a:solidFill>
                  <a:srgbClr val="ffffff"/>
                </a:solidFill>
              </a:rPr>
              <a:t>Metrics Core</a:t>
            </a:r>
            <a:endParaRPr/>
          </a:p>
        </p:txBody>
      </p:sp>
      <p:sp>
        <p:nvSpPr>
          <p:cNvPr id="210" name="CustomShape 3"/>
          <p:cNvSpPr/>
          <p:nvPr/>
        </p:nvSpPr>
        <p:spPr>
          <a:xfrm>
            <a:off x="1008000" y="1476000"/>
            <a:ext cx="1800000" cy="1080000"/>
          </a:xfrm>
          <a:prstGeom prst="roundRect">
            <a:avLst>
              <a:gd fmla="val 3600" name="adj"/>
            </a:avLst>
          </a:prstGeom>
          <a:solidFill>
            <a:srgbClr val="0099ff"/>
          </a:solidFill>
          <a:ln>
            <a:solidFill>
              <a:srgbClr val="3465af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GB">
                <a:solidFill>
                  <a:srgbClr val="ffffff"/>
                </a:solidFill>
              </a:rPr>
              <a:t>JVM Metrics</a:t>
            </a:r>
            <a:endParaRPr/>
          </a:p>
          <a:p>
            <a:pPr algn="ctr"/>
            <a:r>
              <a:rPr lang="en-GB">
                <a:solidFill>
                  <a:srgbClr val="ffffff"/>
                </a:solidFill>
              </a:rPr>
              <a:t>Provider</a:t>
            </a:r>
            <a:endParaRPr/>
          </a:p>
        </p:txBody>
      </p:sp>
      <p:sp>
        <p:nvSpPr>
          <p:cNvPr id="211" name="CustomShape 4"/>
          <p:cNvSpPr/>
          <p:nvPr/>
        </p:nvSpPr>
        <p:spPr>
          <a:xfrm>
            <a:off x="1008000" y="3852000"/>
            <a:ext cx="1800000" cy="1080000"/>
          </a:xfrm>
          <a:prstGeom prst="roundRect">
            <a:avLst>
              <a:gd fmla="val 3600" name="adj"/>
            </a:avLst>
          </a:prstGeom>
          <a:solidFill>
            <a:srgbClr val="0099ff"/>
          </a:solidFill>
          <a:ln>
            <a:solidFill>
              <a:srgbClr val="3465af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GB">
                <a:solidFill>
                  <a:srgbClr val="ffffff"/>
                </a:solidFill>
              </a:rPr>
              <a:t>User Metrics</a:t>
            </a:r>
            <a:endParaRPr/>
          </a:p>
          <a:p>
            <a:pPr algn="ctr"/>
            <a:r>
              <a:rPr lang="en-GB">
                <a:solidFill>
                  <a:srgbClr val="ffffff"/>
                </a:solidFill>
              </a:rPr>
              <a:t>Provider</a:t>
            </a:r>
            <a:endParaRPr/>
          </a:p>
        </p:txBody>
      </p:sp>
      <p:sp>
        <p:nvSpPr>
          <p:cNvPr id="212" name="CustomShape 5"/>
          <p:cNvSpPr/>
          <p:nvPr/>
        </p:nvSpPr>
        <p:spPr>
          <a:xfrm>
            <a:off x="6336000" y="2664000"/>
            <a:ext cx="1800000" cy="1080000"/>
          </a:xfrm>
          <a:prstGeom prst="roundRect">
            <a:avLst>
              <a:gd fmla="val 3600" name="adj"/>
            </a:avLst>
          </a:prstGeom>
          <a:solidFill>
            <a:srgbClr val="0099ff"/>
          </a:solidFill>
          <a:ln>
            <a:solidFill>
              <a:srgbClr val="3465af"/>
            </a:solidFill>
          </a:ln>
        </p:spPr>
        <p:txBody>
          <a:bodyPr anchor="ctr" bIns="45000" lIns="90000" rIns="90000" tIns="45000" wrap="none"/>
          <a:p>
            <a:pPr algn="ctr"/>
            <a:r>
              <a:rPr lang="en-GB">
                <a:solidFill>
                  <a:srgbClr val="ffffff"/>
                </a:solidFill>
              </a:rPr>
              <a:t>Metrics UI</a:t>
            </a:r>
            <a:endParaRPr/>
          </a:p>
        </p:txBody>
      </p:sp>
      <p:cxnSp>
        <p:nvCxnSpPr>
          <p:cNvPr id="213" name="Line 6"/>
          <p:cNvCxnSpPr>
            <a:stCxn id="211" idx="0"/>
            <a:endCxn id="209" idx="1"/>
          </p:cNvCxnSpPr>
          <p:nvPr/>
        </p:nvCxnSpPr>
        <p:spPr>
          <a:xfrm flipV="1">
            <a:off x="1908000" y="3204000"/>
            <a:ext cx="1548360" cy="648360"/>
          </a:xfrm>
          <a:prstGeom prst="curvedConnector3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14" name="Line 7"/>
          <p:cNvCxnSpPr>
            <a:stCxn id="210" idx="3"/>
            <a:endCxn id="209" idx="1"/>
          </p:cNvCxnSpPr>
          <p:nvPr/>
        </p:nvCxnSpPr>
        <p:spPr>
          <a:xfrm>
            <a:off x="2808000" y="2016000"/>
            <a:ext cx="648360" cy="1188360"/>
          </a:xfrm>
          <a:prstGeom prst="curvedConnector3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215" name="Line 8"/>
          <p:cNvCxnSpPr>
            <a:stCxn id="212" idx="1"/>
            <a:endCxn id="209" idx="3"/>
          </p:cNvCxnSpPr>
          <p:nvPr/>
        </p:nvCxnSpPr>
        <p:spPr>
          <a:xfrm flipH="1">
            <a:off x="5256000" y="3204000"/>
            <a:ext cx="1080360" cy="360"/>
          </a:xfrm>
          <a:prstGeom prst="curvedConnector3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216" name="TextShape 9"/>
          <p:cNvSpPr txBox="1"/>
          <p:nvPr/>
        </p:nvSpPr>
        <p:spPr>
          <a:xfrm>
            <a:off x="1512000" y="3168000"/>
            <a:ext cx="772200" cy="24588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100"/>
              <a:t>Provides</a:t>
            </a:r>
            <a:endParaRPr/>
          </a:p>
        </p:txBody>
      </p:sp>
      <p:sp>
        <p:nvSpPr>
          <p:cNvPr id="217" name="TextShape 10"/>
          <p:cNvSpPr txBox="1"/>
          <p:nvPr/>
        </p:nvSpPr>
        <p:spPr>
          <a:xfrm>
            <a:off x="3096000" y="1944000"/>
            <a:ext cx="772200" cy="24588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100"/>
              <a:t>Provides</a:t>
            </a:r>
            <a:endParaRPr/>
          </a:p>
        </p:txBody>
      </p:sp>
      <p:sp>
        <p:nvSpPr>
          <p:cNvPr id="218" name="TextShape 11"/>
          <p:cNvSpPr txBox="1"/>
          <p:nvPr/>
        </p:nvSpPr>
        <p:spPr>
          <a:xfrm>
            <a:off x="5440680" y="2808000"/>
            <a:ext cx="817920" cy="245880"/>
          </a:xfrm>
          <a:prstGeom prst="rect">
            <a:avLst/>
          </a:prstGeom>
        </p:spPr>
        <p:txBody>
          <a:bodyPr bIns="45000" lIns="90000" rIns="90000" tIns="45000" wrap="none"/>
          <a:p>
            <a:r>
              <a:rPr b="1" lang="en-GB" sz="1100"/>
              <a:t>Consume</a:t>
            </a:r>
            <a:endParaRPr/>
          </a:p>
        </p:txBody>
      </p:sp>
    </p:spTree>
  </p:cSld>
  <p:timing>
    <p:tnLst>
      <p:par>
        <p:cTn dur="indefinite" id="186" nodeType="tmRoot" restart="never">
          <p:childTnLst>
            <p:seq>
              <p:cTn id="187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iming>
    <p:tnLst>
      <p:par>
        <p:cTn dur="indefinite" id="188" nodeType="tmRoot" restart="never">
          <p:childTnLst>
            <p:seq>
              <p:cTn id="189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